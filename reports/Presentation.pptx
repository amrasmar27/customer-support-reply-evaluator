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aleway"/>
      <p:regular r:id="rId17"/>
    </p:embeddedFont>
    <p:embeddedFont>
      <p:font typeface="Raleway Bold"/>
      <p:regular r:id="rId18"/>
    </p:embeddedFont>
    <p:embeddedFont>
      <p:font typeface="Roboto"/>
      <p:regular r:id="rId19"/>
    </p:embeddedFont>
    <p:embeddedFont>
      <p:font typeface="Roboto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34182"/>
            <a:ext cx="4722763" cy="1063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Customer Support Reply Evaluator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2709862"/>
            <a:ext cx="4722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Amr Asmar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&amp; 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Nancy Al-Jabbarin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 Processing · Dr. Hamed Abdelhaq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An-Najah National University · May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61801"/>
            <a:ext cx="5186660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 &amp; Motivation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583" y="924967"/>
            <a:ext cx="4845546" cy="736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227" y="1065461"/>
            <a:ext cx="256088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Evaluation is Unsustainable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25227" y="1330151"/>
            <a:ext cx="450740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evaluators are slow, expensive, and inconsistent — impractical at scale.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583" y="1774031"/>
            <a:ext cx="4845546" cy="9275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5227" y="1914525"/>
            <a:ext cx="210703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Inter-Evaluator Inconsistency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25227" y="2179216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scorers frequently disagree, introducing subjectivity and bias into quality assessment.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583" y="2814042"/>
            <a:ext cx="4845546" cy="9275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5227" y="2954536"/>
            <a:ext cx="311936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 for Automated Rubric-Based Scoring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25227" y="3219227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standardized rubric ensures consistent, reproducible evaluation across diverse support scenarios.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583" y="3854053"/>
            <a:ext cx="4845546" cy="9275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5227" y="3994547"/>
            <a:ext cx="182574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Explainable AI Motivation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25227" y="4259238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Stakeholders require transparent, interpretable rationales — not just scores — to trust automated systems.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59197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981149"/>
            <a:ext cx="5165154" cy="2926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7905" y="1535013"/>
            <a:ext cx="257308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 Manually Curated Samples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77905" y="1815629"/>
            <a:ext cx="2649066" cy="154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AI-assisted generation followed by rigorous human review ensures high-quality, realistic support interactions.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Scenarios covered:</a:t>
            </a:r>
            <a:pPr algn="l" indent="0" marL="0">
              <a:lnSpc>
                <a:spcPct val="122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Delayed orders, refunds, damaged products, payment issues, login problems, and general inquiries.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fields: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task, reference, submission, rubric, score, rationale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21643" y="4126632"/>
            <a:ext cx="4001691" cy="657597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3756" y="424874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Score Range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3756" y="4490442"/>
            <a:ext cx="375746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– 4 (balanced)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0518" y="4126632"/>
            <a:ext cx="4001765" cy="657597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42631" y="424874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42631" y="4490442"/>
            <a:ext cx="375753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30+ customer support scenario categories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0309"/>
            <a:ext cx="45879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Exploratory Data Analysis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5367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6765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EDA Findings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1755651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10398" y="1748582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missing values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complete records across all six fields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832" y="2492797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10398" y="248572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Balanced class distribution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score categories (0–4)</a:t>
            </a:r>
            <a:endParaRPr lang="en-US" sz="11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2832" y="3229942"/>
            <a:ext cx="212601" cy="2126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10398" y="3222873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Stratified sampling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preserves score ratios in train/val/test splits</a:t>
            </a:r>
            <a:endParaRPr lang="en-US" sz="11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02832" y="3967088"/>
            <a:ext cx="212601" cy="21260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210398" y="396001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length analysis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confirms varied submission and reference 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46931"/>
            <a:ext cx="425455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 &amp; Pipeline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684" y="1142107"/>
            <a:ext cx="7920633" cy="29721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82869" y="3392757"/>
            <a:ext cx="1423263" cy="230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5866" y="3277689"/>
            <a:ext cx="1194663" cy="460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LoRA Fine-Tune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08446" y="3277689"/>
            <a:ext cx="1194663" cy="460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Baseline Model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82426" y="3392757"/>
            <a:ext cx="1423263" cy="230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Eng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2276" y="3392757"/>
            <a:ext cx="1423263" cy="230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Prep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0640" y="4263926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workflow begins with dataset preparation and prompt design, then then evaluates the baseline model before applying LoRA fine-tuning Performance is validated using accuracy, MAE, and QWK, and the best model is deployed via an interactive Gradio interface.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3771"/>
            <a:ext cx="379950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&amp; Technologies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349" y="1053108"/>
            <a:ext cx="261342" cy="2613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49" y="1464990"/>
            <a:ext cx="176539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Mistral-7B-Instruct-v0.2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349" y="1741363"/>
            <a:ext cx="264274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LLM with strong instruction-following and reasoning capabilities.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629" y="1053108"/>
            <a:ext cx="261342" cy="2613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50629" y="146499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4-Bit Quantization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250629" y="1741363"/>
            <a:ext cx="264274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GPU memory footprint, enabling fine-tuning on consumer hardware.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3910" y="1053108"/>
            <a:ext cx="261342" cy="2613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3910" y="146499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LoRA Fine-Tuning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043910" y="1741363"/>
            <a:ext cx="2642741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Low-Rank Adaptation injects trainable matrices into attention layers — efficient and effective.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349" y="2584847"/>
            <a:ext cx="261342" cy="2613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349" y="2996729"/>
            <a:ext cx="178958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HuggingFace &amp; Unsloth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57349" y="3273103"/>
            <a:ext cx="2642741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Transformers library for model loading; Unsloth accelerates LoRA training by up to 2×.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0629" y="2584847"/>
            <a:ext cx="261342" cy="2613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50629" y="299672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Gradio UI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3250629" y="3273103"/>
            <a:ext cx="264274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web interface for live model demonstration and testing.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57349" y="4011141"/>
            <a:ext cx="8229302" cy="728588"/>
          </a:xfrm>
          <a:prstGeom prst="roundRect">
            <a:avLst>
              <a:gd name="adj" fmla="val 7534"/>
            </a:avLst>
          </a:prstGeom>
          <a:solidFill>
            <a:srgbClr val="B6D6FC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020" y="4202981"/>
            <a:ext cx="163339" cy="13067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82030" y="4164285"/>
            <a:ext cx="767395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LoRA?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Full fine-tuning is computationally prohibitive. LoRA freezes base weights and trains only low-rank adapters — dramatically reducing parameters while matching full fine-tuning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50862"/>
            <a:ext cx="5402089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Engineering &amp; Output Format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15094" y="851148"/>
            <a:ext cx="3999309" cy="3941415"/>
          </a:xfrm>
          <a:prstGeom prst="roundRect">
            <a:avLst>
              <a:gd name="adj" fmla="val 210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30213" y="944687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0213" y="1229841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0213" y="1411188"/>
            <a:ext cx="376907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630213" y="149728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213" y="1770757"/>
            <a:ext cx="37690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query description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213" y="2117601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0213" y="2298948"/>
            <a:ext cx="376907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30213" y="238504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213" y="2658517"/>
            <a:ext cx="37690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support response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213" y="3005361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213" y="3186708"/>
            <a:ext cx="376907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30213" y="327280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213" y="3546277"/>
            <a:ext cx="37690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Model-generated reply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213" y="3893121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213" y="4074468"/>
            <a:ext cx="376907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630213" y="416056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Rubric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213" y="4434036"/>
            <a:ext cx="37690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Scoring criteria (0–4)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17182" y="944687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17182" y="1229841"/>
            <a:ext cx="1869877" cy="699269"/>
          </a:xfrm>
          <a:prstGeom prst="roundRect">
            <a:avLst>
              <a:gd name="adj" fmla="val 691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588" y="135924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588" y="1632719"/>
            <a:ext cx="161106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Integer 0–4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80597" y="1229841"/>
            <a:ext cx="1869951" cy="699269"/>
          </a:xfrm>
          <a:prstGeom prst="roundRect">
            <a:avLst>
              <a:gd name="adj" fmla="val 691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0003" y="135924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0003" y="1632719"/>
            <a:ext cx="161113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Plain-text justification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7182" y="2034332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 Output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17182" y="2307803"/>
            <a:ext cx="3833366" cy="1001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Score: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The response addressesthe refund request clearly andprovides next steps, but lacksan apology and specific timeline.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564579"/>
            <a:ext cx="5135240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Baseline vs Fine-Tuned Results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49" y="1289149"/>
            <a:ext cx="3955256" cy="28470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6157" y="1274118"/>
            <a:ext cx="304286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 5 — Best Performance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736157" y="1598712"/>
            <a:ext cx="395525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LoRA fine-tuning delivered consistent improvements across all evaluation metrics, confirming the value of task-specific adaptation.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736157" y="2135907"/>
            <a:ext cx="3955256" cy="1443335"/>
          </a:xfrm>
          <a:prstGeom prst="roundRect">
            <a:avLst>
              <a:gd name="adj" fmla="val 380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72186" y="2217688"/>
            <a:ext cx="15083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89464" y="2217688"/>
            <a:ext cx="150599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04361" y="2217688"/>
            <a:ext cx="15083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72186" y="2577331"/>
            <a:ext cx="15083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89464" y="2577331"/>
            <a:ext cx="150599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04361" y="2577331"/>
            <a:ext cx="15083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72186" y="2936974"/>
            <a:ext cx="15083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89464" y="2936974"/>
            <a:ext cx="150599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04361" y="2936974"/>
            <a:ext cx="15083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72186" y="3296617"/>
            <a:ext cx="15083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89464" y="3296617"/>
            <a:ext cx="150599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0.9545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04361" y="3296617"/>
            <a:ext cx="15083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0.9744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36157" y="3714750"/>
            <a:ext cx="3955256" cy="728588"/>
          </a:xfrm>
          <a:prstGeom prst="roundRect">
            <a:avLst>
              <a:gd name="adj" fmla="val 7534"/>
            </a:avLst>
          </a:prstGeom>
          <a:solidFill>
            <a:srgbClr val="B6FCB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829" y="3906589"/>
            <a:ext cx="163339" cy="13067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60838" y="3867894"/>
            <a:ext cx="339990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Fine-tuning reduced MAE by 50% and improved QWK, showing stronger agreement with human-assigned scores.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4331" y="318269"/>
            <a:ext cx="30599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Gradio UI Demo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64331" y="758279"/>
            <a:ext cx="4986338" cy="959421"/>
          </a:xfrm>
          <a:prstGeom prst="roundRect">
            <a:avLst>
              <a:gd name="adj" fmla="val 455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3199" y="867147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1B1B2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073" y="953021"/>
            <a:ext cx="140494" cy="1404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3199" y="1255886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Evaluation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73199" y="1464394"/>
            <a:ext cx="47686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can submit a support reply and receive an instant score with a rationale.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64331" y="1794123"/>
            <a:ext cx="4986338" cy="959421"/>
          </a:xfrm>
          <a:prstGeom prst="roundRect">
            <a:avLst>
              <a:gd name="adj" fmla="val 455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73199" y="1902991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1B1B2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073" y="1988865"/>
            <a:ext cx="140494" cy="1404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3199" y="229173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Generated Examples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73199" y="2500238"/>
            <a:ext cx="47686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interface can load realistic test examples for quick demonstration.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364331" y="2829967"/>
            <a:ext cx="4986338" cy="959421"/>
          </a:xfrm>
          <a:prstGeom prst="roundRect">
            <a:avLst>
              <a:gd name="adj" fmla="val 455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73199" y="2938835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1B1B2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9073" y="3024708"/>
            <a:ext cx="140494" cy="1404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3199" y="332757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Hidden Reference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73199" y="3536082"/>
            <a:ext cx="47686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reference answer is hidden by default to reduce bias during manual testing.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364331" y="3865811"/>
            <a:ext cx="4986338" cy="959421"/>
          </a:xfrm>
          <a:prstGeom prst="roundRect">
            <a:avLst>
              <a:gd name="adj" fmla="val 455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3199" y="3974678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1B1B2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073" y="4060552"/>
            <a:ext cx="140494" cy="1404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3199" y="4363417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Static Rubric Display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73199" y="4571926"/>
            <a:ext cx="47686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scoring criteria remain visible to make the evaluation transparent.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26988"/>
            <a:ext cx="458026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Work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81744" y="1055638"/>
            <a:ext cx="4121646" cy="3660874"/>
          </a:xfrm>
          <a:prstGeom prst="roundRect">
            <a:avLst>
              <a:gd name="adj" fmla="val 270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19038" y="1188616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Achievements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9038" y="1552798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983" y="1599977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Fine-Tuning Delivers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983" y="1947490"/>
            <a:ext cx="340511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LoRA adaptation improved accuracy from 80% to 90% with near-perfect QWK.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9038" y="2646164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983" y="269334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Explainable AI Built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983" y="3040856"/>
            <a:ext cx="340511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evaluator produces human-readable rationales alongside every score.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9038" y="3739530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983" y="3786708"/>
            <a:ext cx="226940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Rubric-Based Scoring Works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983" y="4134222"/>
            <a:ext cx="340511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criteria enabled consistent, reproducible automated evaluation.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44269" y="1188616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Directions</a:t>
            </a:r>
            <a:endParaRPr lang="en-US" sz="13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5763" y="1559644"/>
            <a:ext cx="205978" cy="20597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90530" y="1552798"/>
            <a:ext cx="347759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Multilingual Support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Extend evaluation to Arabic and other languages</a:t>
            </a:r>
            <a:endParaRPr lang="en-US" sz="10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5763" y="2258318"/>
            <a:ext cx="205978" cy="20597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90530" y="2251472"/>
            <a:ext cx="347759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Larger Datasets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Scale to thousands of diverse support scenarios</a:t>
            </a:r>
            <a:endParaRPr lang="en-US" sz="10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5763" y="2956992"/>
            <a:ext cx="205978" cy="20597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0530" y="2950146"/>
            <a:ext cx="347759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Deployment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Integrate into live support platforms via API</a:t>
            </a:r>
            <a:endParaRPr lang="en-US" sz="10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5763" y="3655665"/>
            <a:ext cx="205978" cy="2059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0530" y="3648819"/>
            <a:ext cx="347759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Per-Rubric Scoring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Break down scores by individual rubric dimension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2026-05-29T16:25:07Z</dcterms:created>
  <dcterms:modified xsi:type="dcterms:W3CDTF">2026-05-29T16:25:07Z</dcterms:modified>
</cp:coreProperties>
</file>